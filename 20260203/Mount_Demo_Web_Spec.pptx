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bApi" id="{94A24E88-A9D2-4ADB-A32B-F015175C9310}">
          <p14:sldIdLst>
            <p14:sldId id="257"/>
            <p14:sldId id="258"/>
          </p14:sldIdLst>
        </p14:section>
        <p14:section name="WebSocket" id="{4FC8D71A-1CDF-4714-8BD5-ED5B31352889}">
          <p14:sldIdLst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62C294-96E8-67AA-4A21-F14EB4C85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0D62D93-8B80-74DF-29F1-EFBB5CD13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466692-BBDE-3853-938D-C4D182CC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87E496-B0D8-CE40-19E7-2F1DC268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7104A9-9045-CEAD-3298-6C93C47D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24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98EAAB-AD95-B77E-A021-81058904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CD803A-88C5-22A7-169F-5346AE24C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4961F4-BDC5-03BC-CF15-331ACB1E6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1865AF-99B7-7E54-1ED9-320C77678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410393-8579-B46A-C0DF-1422BA4B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94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C672-4D5A-D422-01F4-B2379E53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0ED5B4-4988-05CE-FC0A-DB1E43114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7E1888-DFC8-1924-B10F-4797191D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9D7927-C1D7-4598-CF68-9D808AE1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27F355-5C4B-F6FC-256A-C31D8505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572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219FAC-6314-9191-7B5A-76013838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FAB649-74C0-1ABF-8E80-2512BBB90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46FFDA-8A9D-DBC4-D219-EF521A375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A13AA7-201B-436C-B222-AE973BE8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D92F5B-9C1A-072D-3A86-0CB96015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2A425F-153E-FA70-C8BD-5EE08C82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578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10D55F-E185-DA97-F3F1-DF308BFF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C9A381-1739-CD3C-5662-52E5801D5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6E870A8-2B9E-F2A6-5425-C1B24ED61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4F46199-C18C-F762-2320-E6F5539DD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D4E06A5-3D4A-0A14-712D-62831E838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4FEFEDC-188D-E681-E80A-F622204B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09345A6-A19E-E980-4FFC-7F26A9FE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3E2F375-355B-81C9-065D-8AACBC91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195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9EF0E3-7988-424E-D80A-297ED0AD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57C7AAE-B08B-2963-0D6C-EF4F7CA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D83F088-10D8-9683-7B9F-9C0038F1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F9B9EB5-5EEF-C383-3A97-FA5243E1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5079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2540C49-D22D-E7E7-3B23-929C2051F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F19D867-FE02-0E0E-7F48-D8DA4CBB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E9BCC7-0C86-D052-9328-626747A0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091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FC25A8-893A-4F2D-8583-42A6C411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51632-2C81-6ABD-59B7-32CC4B1E9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BFF491F-ADD3-B606-A6B5-C898BCAAF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90DEA5C-C41F-2653-44EA-FC86D8B9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D3959F1-A070-CFE7-D1C3-AC6F8D65E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5246A3-475F-C3C7-C05F-70ADC230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688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ACD47F-AD1E-DE8A-3DED-C8A560FA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64DFC40-451A-2E60-9161-1EB96F26A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F68D608-EBB4-A87A-3977-786195501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6527E0-FC35-C6B1-F290-116EC45C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0F7C003-1CB9-F195-2DB4-09748D01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65C5A1-1339-4E61-9748-1038014CB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84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97B8CE-11B4-E495-D601-1AAD0320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C18D9B3-638B-45F3-7BF6-AC7C97E2C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28DBE9-BC63-6593-5B05-12C6332F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344CDE-11D0-DA35-9E77-E7593DC9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74C689-B189-A109-E2C5-A23FEB4E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512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97AD5B4-7DA0-5A15-A4EE-E30BB1B60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1899BAE-6560-9289-A7CE-9C48B6E66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BDEC04-7429-5AAB-0424-258B1775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AA2267-C08F-796F-8708-93DA566D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C07D8E-C0BF-5D03-935E-699B9D2B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43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6A4D6D6-6233-AA9E-68B0-AABB77AA9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7B51D6-25AB-0FE7-B45B-B56CFC454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696456-EA57-EACE-DB4D-A9F13DD40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C6AB0-8AF5-4DF4-92A1-8506AB987DA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959E98-157B-D239-D634-A45899346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C8995C-34CC-4825-0701-6310F202E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D021D-7046-492A-A36D-FF267011EA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09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53FE1AB-15E7-41A6-2AB0-9A937A393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00" y="360000"/>
            <a:ext cx="108618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📋 測試指令列表</a:t>
            </a:r>
            <a:r>
              <a:rPr kumimoji="0" lang="zh-TW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en-US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–</a:t>
            </a:r>
            <a:r>
              <a:rPr kumimoji="0" lang="zh-TW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en-US" altLang="zh-TW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WebApi</a:t>
            </a:r>
            <a:r>
              <a:rPr kumimoji="0" lang="en-US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kumimoji="0" lang="zh-TW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前端 </a:t>
            </a:r>
            <a:r>
              <a:rPr kumimoji="0" lang="en-US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</a:t>
            </a:r>
            <a:r>
              <a:rPr kumimoji="0" lang="zh-TW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後端</a:t>
            </a:r>
            <a:r>
              <a:rPr kumimoji="0" lang="en-US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zh-TW" altLang="zh-TW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FE287E9-70F2-891D-23D9-0B7BE172B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819286"/>
              </p:ext>
            </p:extLst>
          </p:nvPr>
        </p:nvGraphicFramePr>
        <p:xfrm>
          <a:off x="504000" y="1080000"/>
          <a:ext cx="11190083" cy="516059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674221">
                  <a:extLst>
                    <a:ext uri="{9D8B030D-6E8A-4147-A177-3AD203B41FA5}">
                      <a16:colId xmlns:a16="http://schemas.microsoft.com/office/drawing/2014/main" val="3934198843"/>
                    </a:ext>
                  </a:extLst>
                </a:gridCol>
                <a:gridCol w="996028">
                  <a:extLst>
                    <a:ext uri="{9D8B030D-6E8A-4147-A177-3AD203B41FA5}">
                      <a16:colId xmlns:a16="http://schemas.microsoft.com/office/drawing/2014/main" val="4042620923"/>
                    </a:ext>
                  </a:extLst>
                </a:gridCol>
                <a:gridCol w="4228807">
                  <a:extLst>
                    <a:ext uri="{9D8B030D-6E8A-4147-A177-3AD203B41FA5}">
                      <a16:colId xmlns:a16="http://schemas.microsoft.com/office/drawing/2014/main" val="1037561700"/>
                    </a:ext>
                  </a:extLst>
                </a:gridCol>
                <a:gridCol w="713263">
                  <a:extLst>
                    <a:ext uri="{9D8B030D-6E8A-4147-A177-3AD203B41FA5}">
                      <a16:colId xmlns:a16="http://schemas.microsoft.com/office/drawing/2014/main" val="3647610765"/>
                    </a:ext>
                  </a:extLst>
                </a:gridCol>
                <a:gridCol w="3577764">
                  <a:extLst>
                    <a:ext uri="{9D8B030D-6E8A-4147-A177-3AD203B41FA5}">
                      <a16:colId xmlns:a16="http://schemas.microsoft.com/office/drawing/2014/main" val="1338189430"/>
                    </a:ext>
                  </a:extLst>
                </a:gridCol>
              </a:tblGrid>
              <a:tr h="286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marL="33995" marR="33995" marT="16997" marB="1699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Method</a:t>
                      </a:r>
                    </a:p>
                  </a:txBody>
                  <a:tcPr marL="33995" marR="33995" marT="16997" marB="1699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URL</a:t>
                      </a:r>
                    </a:p>
                  </a:txBody>
                  <a:tcPr marL="33995" marR="33995" marT="16997" marB="1699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Body</a:t>
                      </a:r>
                    </a:p>
                  </a:txBody>
                  <a:tcPr marL="33995" marR="33995" marT="16997" marB="1699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預期回應 </a:t>
                      </a:r>
                      <a:r>
                        <a:rPr lang="en-US" altLang="zh-TW" sz="1600" b="1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(JSON </a:t>
                      </a:r>
                      <a:r>
                        <a:rPr lang="zh-TW" altLang="en-US" sz="1600" b="1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範例</a:t>
                      </a:r>
                      <a:r>
                        <a:rPr lang="en-US" altLang="zh-TW" sz="1600" b="1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33995" marR="33995" marT="16997" marB="1699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765161"/>
                  </a:ext>
                </a:extLst>
              </a:tr>
              <a:tr h="53372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開始檢測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http://localhost:5000/api/start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{ "status": "ok", "message": "Inspection started successfully" }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838062399"/>
                  </a:ext>
                </a:extLst>
              </a:tr>
              <a:tr h="63011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停止檢測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http://localhost:5000/api/stop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{ "status": "ok", "message": "Inspection stopped successfully" }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927505255"/>
                  </a:ext>
                </a:extLst>
              </a:tr>
              <a:tr h="53372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單次觸發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http://localhost:5000/api/trigger_once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{ "status": "ok", "message": "Single trigger executed (ID=HHmmssfff)" }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062742489"/>
                  </a:ext>
                </a:extLst>
              </a:tr>
              <a:tr h="53372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開始迴圈檢測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http://localhost:5000/api/loop_start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{ "status": "ok", "message": "Loop inspection started" }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474140429"/>
                  </a:ext>
                </a:extLst>
              </a:tr>
              <a:tr h="53372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停止迴圈檢測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http://localhost:5000/api/loop_stop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{ "status": "ok", "message": "Loop inspection stopped" }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963004253"/>
                  </a:ext>
                </a:extLst>
              </a:tr>
              <a:tr h="157529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查詢狀態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http://localhost:5000/api/status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{ "status": "ok",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curStatus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{ "model":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ModelA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wafer_id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"W12345", "status": "Processing",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total_steps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120, "system": "Pass", "card": "Pass", "camera": "Fail", "light": "None", "process": "Pass" } }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719342274"/>
                  </a:ext>
                </a:extLst>
              </a:tr>
              <a:tr h="53372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未知路徑測試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http://localhost:5000/api/foobar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404 + { "status": "error", "message": "Unknown API path" }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046047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23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4A0E348-C47B-1938-15B8-95B814573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656921"/>
              </p:ext>
            </p:extLst>
          </p:nvPr>
        </p:nvGraphicFramePr>
        <p:xfrm>
          <a:off x="504000" y="1080000"/>
          <a:ext cx="11190083" cy="186184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674221">
                  <a:extLst>
                    <a:ext uri="{9D8B030D-6E8A-4147-A177-3AD203B41FA5}">
                      <a16:colId xmlns:a16="http://schemas.microsoft.com/office/drawing/2014/main" val="3934198843"/>
                    </a:ext>
                  </a:extLst>
                </a:gridCol>
                <a:gridCol w="996028">
                  <a:extLst>
                    <a:ext uri="{9D8B030D-6E8A-4147-A177-3AD203B41FA5}">
                      <a16:colId xmlns:a16="http://schemas.microsoft.com/office/drawing/2014/main" val="4042620923"/>
                    </a:ext>
                  </a:extLst>
                </a:gridCol>
                <a:gridCol w="4228807">
                  <a:extLst>
                    <a:ext uri="{9D8B030D-6E8A-4147-A177-3AD203B41FA5}">
                      <a16:colId xmlns:a16="http://schemas.microsoft.com/office/drawing/2014/main" val="1037561700"/>
                    </a:ext>
                  </a:extLst>
                </a:gridCol>
                <a:gridCol w="713263">
                  <a:extLst>
                    <a:ext uri="{9D8B030D-6E8A-4147-A177-3AD203B41FA5}">
                      <a16:colId xmlns:a16="http://schemas.microsoft.com/office/drawing/2014/main" val="3647610765"/>
                    </a:ext>
                  </a:extLst>
                </a:gridCol>
                <a:gridCol w="3577764">
                  <a:extLst>
                    <a:ext uri="{9D8B030D-6E8A-4147-A177-3AD203B41FA5}">
                      <a16:colId xmlns:a16="http://schemas.microsoft.com/office/drawing/2014/main" val="1338189430"/>
                    </a:ext>
                  </a:extLst>
                </a:gridCol>
              </a:tblGrid>
              <a:tr h="2865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marL="33995" marR="33995" marT="16997" marB="16997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Method</a:t>
                      </a:r>
                    </a:p>
                  </a:txBody>
                  <a:tcPr marL="33995" marR="33995" marT="16997" marB="16997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URL</a:t>
                      </a:r>
                    </a:p>
                  </a:txBody>
                  <a:tcPr marL="33995" marR="33995" marT="16997" marB="16997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Body</a:t>
                      </a:r>
                    </a:p>
                  </a:txBody>
                  <a:tcPr marL="33995" marR="33995" marT="16997" marB="16997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預期回應 </a:t>
                      </a:r>
                      <a:r>
                        <a:rPr lang="en-US" altLang="zh-TW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(JSON </a:t>
                      </a:r>
                      <a:r>
                        <a:rPr lang="zh-TW" alt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範例</a:t>
                      </a:r>
                      <a:r>
                        <a:rPr lang="en-US" altLang="zh-TW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33995" marR="33995" marT="16997" marB="1699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765161"/>
                  </a:ext>
                </a:extLst>
              </a:tr>
              <a:tr h="157529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查詢狀態</a:t>
                      </a:r>
                      <a:endParaRPr lang="zh-TW" altLang="en-US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http://localhost:5000/api/status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{ "status": "ok",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curStatus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{ "model":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ModelA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wafer_id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"W12345", "status": "Processing",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total_steps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120, "system": "Pass", "card": "Pass", "camera": "Fail", "light": "None", "process": "Pass" } }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71934227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53FE1AB-15E7-41A6-2AB0-9A937A393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00" y="360000"/>
            <a:ext cx="108618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2000" dirty="0"/>
              <a:t>🔎</a:t>
            </a:r>
            <a:r>
              <a:rPr kumimoji="0" lang="zh-TW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狀態欄位對照表</a:t>
            </a:r>
            <a:endParaRPr kumimoji="0" lang="zh-TW" altLang="zh-TW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BCF7E70-7D71-89F2-B9E1-020F44B59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00" y="3175939"/>
            <a:ext cx="3945632" cy="18158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ProcStatus (流程狀態)</a:t>
            </a:r>
            <a:endParaRPr kumimoji="0" lang="en-US" altLang="zh-TW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Idle → 系統閒置，等待開始命令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AwaitingTrigger → 等待外部觸發信號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CapturingImage → 從設備擷取影像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Processing → 執行演算法 / 處理資料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SavingImage → 儲存影像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3F68D0A-1219-DA66-924A-EF0ECDDB3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00" y="5309370"/>
            <a:ext cx="2957861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ModuleStatus (模組狀態)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None → 尚未檢測或無狀態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Pass → 模組檢測通過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Fail → 模組檢測失敗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E839888-14E0-3DC1-A8D0-FEC186FB6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265" y="3175939"/>
            <a:ext cx="4541564" cy="28007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curStatus JSON 欄位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→ 當前檢測的模型名稱 (CurModel)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wafer_id → 當前 wafer ID (CurId)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status → 流程狀態 (M_ProcStatus)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total_steps → 總步數 (CurTotalSteps)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→ 系統模組狀態 (M_SystemStatus)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card → 卡片模組狀態 (M_CardStatus)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camera → 相機模組狀態 (M_CameraStatus)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light → 光源模組狀態 (M_LightStatus)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process → 處理模組狀態 (M_ProcessStatus)</a:t>
            </a:r>
          </a:p>
        </p:txBody>
      </p:sp>
    </p:spTree>
    <p:extLst>
      <p:ext uri="{BB962C8B-B14F-4D97-AF65-F5344CB8AC3E}">
        <p14:creationId xmlns:p14="http://schemas.microsoft.com/office/powerpoint/2010/main" val="426272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53FE1AB-15E7-41A6-2AB0-9A937A393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00" y="360000"/>
            <a:ext cx="108618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📋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→ JSON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範例對照表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 WebSocket 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前端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zh-TW" altLang="zh-TW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45BD26D-46D7-4C83-43F5-7F3CC4A51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460585"/>
              </p:ext>
            </p:extLst>
          </p:nvPr>
        </p:nvGraphicFramePr>
        <p:xfrm>
          <a:off x="504000" y="1080000"/>
          <a:ext cx="10302753" cy="569670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434251">
                  <a:extLst>
                    <a:ext uri="{9D8B030D-6E8A-4147-A177-3AD203B41FA5}">
                      <a16:colId xmlns:a16="http://schemas.microsoft.com/office/drawing/2014/main" val="4253331070"/>
                    </a:ext>
                  </a:extLst>
                </a:gridCol>
                <a:gridCol w="3434251">
                  <a:extLst>
                    <a:ext uri="{9D8B030D-6E8A-4147-A177-3AD203B41FA5}">
                      <a16:colId xmlns:a16="http://schemas.microsoft.com/office/drawing/2014/main" val="3818907616"/>
                    </a:ext>
                  </a:extLst>
                </a:gridCol>
                <a:gridCol w="3434251">
                  <a:extLst>
                    <a:ext uri="{9D8B030D-6E8A-4147-A177-3AD203B41FA5}">
                      <a16:colId xmlns:a16="http://schemas.microsoft.com/office/drawing/2014/main" val="819784407"/>
                    </a:ext>
                  </a:extLst>
                </a:gridCol>
              </a:tblGrid>
              <a:tr h="21313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Function </a:t>
                      </a:r>
                      <a:r>
                        <a:rPr lang="zh-TW" alt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 marL="46789" marR="46789" marT="23394" marB="2339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command </a:t>
                      </a:r>
                      <a:r>
                        <a:rPr lang="zh-TW" altLang="en-US" sz="1600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</a:t>
                      </a:r>
                    </a:p>
                  </a:txBody>
                  <a:tcPr marL="46789" marR="46789" marT="23394" marB="2339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 </a:t>
                      </a:r>
                      <a:r>
                        <a:rPr lang="zh-TW" altLang="en-US" sz="160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範例</a:t>
                      </a:r>
                    </a:p>
                  </a:txBody>
                  <a:tcPr marL="46789" marR="46789" marT="23394" marB="2339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425959"/>
                  </a:ext>
                </a:extLst>
              </a:tr>
              <a:tr h="101239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SendInspectStart</a:t>
                      </a:r>
                      <a:r>
                        <a:rPr lang="en-US" sz="14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()</a:t>
                      </a:r>
                      <a:endParaRPr lang="en-US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"INSPECT_START"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 { "command": "INSPECT_START", "model": "ModelA", "wafer_id": "W12345", "status": "Processing", "total_steps": 120, "start_time": "2026/02/05 19:25:30" }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94435940"/>
                  </a:ext>
                </a:extLst>
              </a:tr>
              <a:tr h="37298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SendStatus()</a:t>
                      </a:r>
                      <a:endParaRPr lang="en-US" sz="1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"STATUS"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 { "command": "STATUS", "status": "Idle" }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450413282"/>
                  </a:ext>
                </a:extLst>
              </a:tr>
              <a:tr h="532841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SendCaptureIndex(int)</a:t>
                      </a:r>
                      <a:endParaRPr lang="en-US" sz="1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"CAPTURE_INDEX"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{ "command": "CAPTURE_INDEX", "index": 5,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total_steps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120 }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666444704"/>
                  </a:ext>
                </a:extLst>
              </a:tr>
              <a:tr h="532841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SendCaptureTimeSpent(double)</a:t>
                      </a:r>
                      <a:endParaRPr lang="en-US" sz="1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"CAPTURE_TIME_SPENT"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 { "command": "CAPTURE_TIME_SPENT", "capture_time_spent": 3 }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1171925804"/>
                  </a:ext>
                </a:extLst>
              </a:tr>
              <a:tr h="532841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SendFusingIndex(int, int)</a:t>
                      </a:r>
                      <a:endParaRPr lang="en-US" sz="1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"FUSING_INDEX"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 { "command": "FUSING_INDEX", "index": 2, "total_steps": 120 }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868761587"/>
                  </a:ext>
                </a:extLst>
              </a:tr>
              <a:tr h="532841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SendFusingTimeSpent(double)</a:t>
                      </a:r>
                      <a:endParaRPr lang="en-US" sz="1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"FUSING_TIME_SPENT"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{ "command": "FUSING_TIME_SPENT",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fusing_time_spent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7 }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301760035"/>
                  </a:ext>
                </a:extLst>
              </a:tr>
              <a:tr h="692692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SendFinished(double, string)</a:t>
                      </a:r>
                      <a:endParaRPr lang="en-US" sz="1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"FINISHED"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{ "command": "FINISHED",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total_time_spent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25,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storage_path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"C:\\Results\\image001.png" }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1910711964"/>
                  </a:ext>
                </a:extLst>
              </a:tr>
              <a:tr h="532841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SendError(string)</a:t>
                      </a:r>
                      <a:endParaRPr lang="en-US" sz="14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"ERROR"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{ "command": "ERROR", "</a:t>
                      </a:r>
                      <a:r>
                        <a:rPr lang="en-US" sz="14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error_message</a:t>
                      </a:r>
                      <a:r>
                        <a:rPr lang="en-US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": "Camera disconnected" }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4211273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653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53FE1AB-15E7-41A6-2AB0-9A937A393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00" y="360000"/>
            <a:ext cx="1086186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📋 各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JSON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endParaRPr kumimoji="0" lang="zh-TW" altLang="zh-TW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9EBF9AE-4CE8-23FE-EE59-4E2B94A66598}"/>
              </a:ext>
            </a:extLst>
          </p:cNvPr>
          <p:cNvSpPr txBox="1"/>
          <p:nvPr/>
        </p:nvSpPr>
        <p:spPr>
          <a:xfrm>
            <a:off x="605600" y="1030238"/>
            <a:ext cx="2774909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 err="1">
                <a:solidFill>
                  <a:srgbClr val="0000FF"/>
                </a:solidFill>
              </a:rPr>
              <a:t>SendInspectStart</a:t>
            </a:r>
            <a:r>
              <a:rPr lang="en-US" altLang="zh-TW" sz="1200" dirty="0">
                <a:solidFill>
                  <a:srgbClr val="0000FF"/>
                </a:solidFill>
              </a:rPr>
              <a:t>()</a:t>
            </a:r>
          </a:p>
          <a:p>
            <a:r>
              <a:rPr lang="zh-TW" altLang="en-US" sz="1200" dirty="0"/>
              <a:t>{</a:t>
            </a:r>
          </a:p>
          <a:p>
            <a:r>
              <a:rPr lang="zh-TW" altLang="en-US" sz="1200" dirty="0"/>
              <a:t>  "command": "INSPECT_START",</a:t>
            </a:r>
          </a:p>
          <a:p>
            <a:r>
              <a:rPr lang="zh-TW" altLang="en-US" sz="1200" dirty="0"/>
              <a:t>  "model": "ModelA",</a:t>
            </a:r>
          </a:p>
          <a:p>
            <a:r>
              <a:rPr lang="zh-TW" altLang="en-US" sz="1200" dirty="0"/>
              <a:t>  "wafer_id": "W12345",</a:t>
            </a:r>
          </a:p>
          <a:p>
            <a:r>
              <a:rPr lang="zh-TW" altLang="en-US" sz="1200" dirty="0"/>
              <a:t>  "status": "Processing",</a:t>
            </a:r>
          </a:p>
          <a:p>
            <a:r>
              <a:rPr lang="zh-TW" altLang="en-US" sz="1200" dirty="0"/>
              <a:t>  "total_steps": 120,</a:t>
            </a:r>
          </a:p>
          <a:p>
            <a:r>
              <a:rPr lang="zh-TW" altLang="en-US" sz="1200" dirty="0"/>
              <a:t>  "start_time": "2026/02/05 19:25:30"</a:t>
            </a:r>
          </a:p>
          <a:p>
            <a:r>
              <a:rPr lang="zh-TW" altLang="en-US" sz="1200" dirty="0"/>
              <a:t>}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C41F8EA-39C9-B219-CF05-A0FCB4440D4F}"/>
              </a:ext>
            </a:extLst>
          </p:cNvPr>
          <p:cNvSpPr txBox="1"/>
          <p:nvPr/>
        </p:nvSpPr>
        <p:spPr>
          <a:xfrm>
            <a:off x="605598" y="3152116"/>
            <a:ext cx="2774909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 err="1">
                <a:solidFill>
                  <a:srgbClr val="0000FF"/>
                </a:solidFill>
              </a:rPr>
              <a:t>SendStatus</a:t>
            </a:r>
            <a:r>
              <a:rPr lang="en-US" altLang="zh-TW" sz="1200" dirty="0">
                <a:solidFill>
                  <a:srgbClr val="0000FF"/>
                </a:solidFill>
              </a:rPr>
              <a:t>()</a:t>
            </a:r>
          </a:p>
          <a:p>
            <a:r>
              <a:rPr lang="zh-TW" altLang="en-US" sz="1200" dirty="0"/>
              <a:t>{</a:t>
            </a:r>
          </a:p>
          <a:p>
            <a:r>
              <a:rPr lang="zh-TW" altLang="en-US" sz="1200" dirty="0"/>
              <a:t>  "command": "STATUS",</a:t>
            </a:r>
          </a:p>
          <a:p>
            <a:r>
              <a:rPr lang="zh-TW" altLang="en-US" sz="1200" dirty="0"/>
              <a:t>  "status": "Idle"</a:t>
            </a:r>
          </a:p>
          <a:p>
            <a:r>
              <a:rPr lang="zh-TW" altLang="en-US" sz="1200" dirty="0"/>
              <a:t>}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FAE4D75-319E-892F-31FF-221D221D6E2D}"/>
              </a:ext>
            </a:extLst>
          </p:cNvPr>
          <p:cNvSpPr txBox="1"/>
          <p:nvPr/>
        </p:nvSpPr>
        <p:spPr>
          <a:xfrm>
            <a:off x="605597" y="4653304"/>
            <a:ext cx="277490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 err="1">
                <a:solidFill>
                  <a:srgbClr val="0000FF"/>
                </a:solidFill>
              </a:rPr>
              <a:t>SendCaptureIndex</a:t>
            </a:r>
            <a:r>
              <a:rPr lang="en-US" altLang="zh-TW" sz="1200" dirty="0">
                <a:solidFill>
                  <a:srgbClr val="0000FF"/>
                </a:solidFill>
              </a:rPr>
              <a:t>(int </a:t>
            </a:r>
            <a:r>
              <a:rPr lang="en-US" altLang="zh-TW" sz="1200" dirty="0" err="1">
                <a:solidFill>
                  <a:srgbClr val="0000FF"/>
                </a:solidFill>
              </a:rPr>
              <a:t>captureIndex</a:t>
            </a:r>
            <a:r>
              <a:rPr lang="en-US" altLang="zh-TW" sz="1200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zh-TW" sz="1200" dirty="0"/>
              <a:t>{</a:t>
            </a:r>
          </a:p>
          <a:p>
            <a:r>
              <a:rPr lang="en-US" altLang="zh-TW" sz="1200" dirty="0"/>
              <a:t>  "command": "CAPTURE_INDEX",</a:t>
            </a:r>
          </a:p>
          <a:p>
            <a:r>
              <a:rPr lang="en-US" altLang="zh-TW" sz="1200" dirty="0"/>
              <a:t>  "index": 5,</a:t>
            </a:r>
          </a:p>
          <a:p>
            <a:r>
              <a:rPr lang="en-US" altLang="zh-TW" sz="1200" dirty="0"/>
              <a:t>  "</a:t>
            </a:r>
            <a:r>
              <a:rPr lang="en-US" altLang="zh-TW" sz="1200" dirty="0" err="1"/>
              <a:t>total_steps</a:t>
            </a:r>
            <a:r>
              <a:rPr lang="en-US" altLang="zh-TW" sz="1200" dirty="0"/>
              <a:t>": 120</a:t>
            </a:r>
          </a:p>
          <a:p>
            <a:r>
              <a:rPr lang="en-US" altLang="zh-TW" sz="1200" dirty="0"/>
              <a:t>}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463D87D-AF2F-CBE6-72A0-71A18669F980}"/>
              </a:ext>
            </a:extLst>
          </p:cNvPr>
          <p:cNvSpPr txBox="1"/>
          <p:nvPr/>
        </p:nvSpPr>
        <p:spPr>
          <a:xfrm>
            <a:off x="3883893" y="1034903"/>
            <a:ext cx="3371272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 err="1">
                <a:solidFill>
                  <a:srgbClr val="0000FF"/>
                </a:solidFill>
              </a:rPr>
              <a:t>SendCaptureTimeSpent</a:t>
            </a:r>
            <a:r>
              <a:rPr lang="en-US" altLang="zh-TW" sz="1200" dirty="0">
                <a:solidFill>
                  <a:srgbClr val="0000FF"/>
                </a:solidFill>
              </a:rPr>
              <a:t>(double </a:t>
            </a:r>
            <a:r>
              <a:rPr lang="en-US" altLang="zh-TW" sz="1200" dirty="0" err="1">
                <a:solidFill>
                  <a:srgbClr val="0000FF"/>
                </a:solidFill>
              </a:rPr>
              <a:t>captureTime</a:t>
            </a:r>
            <a:r>
              <a:rPr lang="en-US" altLang="zh-TW" sz="1200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zh-TW" sz="1200" dirty="0"/>
              <a:t>{</a:t>
            </a:r>
          </a:p>
          <a:p>
            <a:r>
              <a:rPr lang="en-US" altLang="zh-TW" sz="1200" dirty="0"/>
              <a:t>  "command": "CAPTURE_TIME_SPENT",</a:t>
            </a:r>
          </a:p>
          <a:p>
            <a:r>
              <a:rPr lang="en-US" altLang="zh-TW" sz="1200" dirty="0"/>
              <a:t>  "</a:t>
            </a:r>
            <a:r>
              <a:rPr lang="en-US" altLang="zh-TW" sz="1200" dirty="0" err="1"/>
              <a:t>capture_time_spent</a:t>
            </a:r>
            <a:r>
              <a:rPr lang="en-US" altLang="zh-TW" sz="1200" dirty="0"/>
              <a:t>": 3</a:t>
            </a:r>
          </a:p>
          <a:p>
            <a:r>
              <a:rPr lang="en-US" altLang="zh-TW" sz="1200" dirty="0"/>
              <a:t>}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6C3C8A4-F980-8B30-E602-6EECEF74CD8B}"/>
              </a:ext>
            </a:extLst>
          </p:cNvPr>
          <p:cNvSpPr txBox="1"/>
          <p:nvPr/>
        </p:nvSpPr>
        <p:spPr>
          <a:xfrm>
            <a:off x="3883893" y="2298136"/>
            <a:ext cx="337127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 err="1">
                <a:solidFill>
                  <a:srgbClr val="0000FF"/>
                </a:solidFill>
              </a:rPr>
              <a:t>SendFusingIndex</a:t>
            </a:r>
            <a:r>
              <a:rPr lang="en-US" altLang="zh-TW" sz="1200" dirty="0">
                <a:solidFill>
                  <a:srgbClr val="0000FF"/>
                </a:solidFill>
              </a:rPr>
              <a:t>(int </a:t>
            </a:r>
            <a:r>
              <a:rPr lang="en-US" altLang="zh-TW" sz="1200" dirty="0" err="1">
                <a:solidFill>
                  <a:srgbClr val="0000FF"/>
                </a:solidFill>
              </a:rPr>
              <a:t>fusingIndex</a:t>
            </a:r>
            <a:r>
              <a:rPr lang="en-US" altLang="zh-TW" sz="1200" dirty="0">
                <a:solidFill>
                  <a:srgbClr val="0000FF"/>
                </a:solidFill>
              </a:rPr>
              <a:t>, int </a:t>
            </a:r>
            <a:r>
              <a:rPr lang="en-US" altLang="zh-TW" sz="1200" dirty="0" err="1">
                <a:solidFill>
                  <a:srgbClr val="0000FF"/>
                </a:solidFill>
              </a:rPr>
              <a:t>totalSteps</a:t>
            </a:r>
            <a:r>
              <a:rPr lang="en-US" altLang="zh-TW" sz="1200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zh-TW" sz="1200" dirty="0"/>
              <a:t>{</a:t>
            </a:r>
          </a:p>
          <a:p>
            <a:r>
              <a:rPr lang="en-US" altLang="zh-TW" sz="1200" dirty="0"/>
              <a:t>  "command": "FUSING_INDEX",</a:t>
            </a:r>
          </a:p>
          <a:p>
            <a:r>
              <a:rPr lang="en-US" altLang="zh-TW" sz="1200" dirty="0"/>
              <a:t>  "index": 2,</a:t>
            </a:r>
          </a:p>
          <a:p>
            <a:r>
              <a:rPr lang="en-US" altLang="zh-TW" sz="1200" dirty="0"/>
              <a:t>  "</a:t>
            </a:r>
            <a:r>
              <a:rPr lang="en-US" altLang="zh-TW" sz="1200" dirty="0" err="1"/>
              <a:t>total_steps</a:t>
            </a:r>
            <a:r>
              <a:rPr lang="en-US" altLang="zh-TW" sz="1200" dirty="0"/>
              <a:t>": 120</a:t>
            </a:r>
          </a:p>
          <a:p>
            <a:r>
              <a:rPr lang="en-US" altLang="zh-TW" sz="1200" dirty="0"/>
              <a:t>}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1772339-60BD-EF37-60AD-E90319C70B63}"/>
              </a:ext>
            </a:extLst>
          </p:cNvPr>
          <p:cNvSpPr txBox="1"/>
          <p:nvPr/>
        </p:nvSpPr>
        <p:spPr>
          <a:xfrm>
            <a:off x="3883893" y="3659948"/>
            <a:ext cx="3371272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 err="1">
                <a:solidFill>
                  <a:srgbClr val="0000FF"/>
                </a:solidFill>
              </a:rPr>
              <a:t>SendFusingTimeSpent</a:t>
            </a:r>
            <a:r>
              <a:rPr lang="en-US" altLang="zh-TW" sz="1200" dirty="0">
                <a:solidFill>
                  <a:srgbClr val="0000FF"/>
                </a:solidFill>
              </a:rPr>
              <a:t>(double </a:t>
            </a:r>
            <a:r>
              <a:rPr lang="en-US" altLang="zh-TW" sz="1200" dirty="0" err="1">
                <a:solidFill>
                  <a:srgbClr val="0000FF"/>
                </a:solidFill>
              </a:rPr>
              <a:t>fusingTime</a:t>
            </a:r>
            <a:r>
              <a:rPr lang="en-US" altLang="zh-TW" sz="1200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zh-TW" sz="1200" dirty="0"/>
              <a:t>{</a:t>
            </a:r>
          </a:p>
          <a:p>
            <a:r>
              <a:rPr lang="en-US" altLang="zh-TW" sz="1200" dirty="0"/>
              <a:t>  "command": "FUSING_TIME_SPENT",</a:t>
            </a:r>
          </a:p>
          <a:p>
            <a:r>
              <a:rPr lang="en-US" altLang="zh-TW" sz="1200" dirty="0"/>
              <a:t>  "</a:t>
            </a:r>
            <a:r>
              <a:rPr lang="en-US" altLang="zh-TW" sz="1200" dirty="0" err="1"/>
              <a:t>fusing_time_spent</a:t>
            </a:r>
            <a:r>
              <a:rPr lang="en-US" altLang="zh-TW" sz="1200" dirty="0"/>
              <a:t>": 7</a:t>
            </a:r>
          </a:p>
          <a:p>
            <a:r>
              <a:rPr lang="en-US" altLang="zh-TW" sz="1200" dirty="0"/>
              <a:t>}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C661B64-FB6E-03AA-7B6B-B27D7BBF7A37}"/>
              </a:ext>
            </a:extLst>
          </p:cNvPr>
          <p:cNvSpPr txBox="1"/>
          <p:nvPr/>
        </p:nvSpPr>
        <p:spPr>
          <a:xfrm>
            <a:off x="3883893" y="4928340"/>
            <a:ext cx="337127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 err="1">
                <a:solidFill>
                  <a:srgbClr val="0000FF"/>
                </a:solidFill>
              </a:rPr>
              <a:t>SendFinished</a:t>
            </a:r>
            <a:r>
              <a:rPr lang="en-US" altLang="zh-TW" sz="1200" dirty="0">
                <a:solidFill>
                  <a:srgbClr val="0000FF"/>
                </a:solidFill>
              </a:rPr>
              <a:t>(double </a:t>
            </a:r>
            <a:r>
              <a:rPr lang="en-US" altLang="zh-TW" sz="1200" dirty="0" err="1">
                <a:solidFill>
                  <a:srgbClr val="0000FF"/>
                </a:solidFill>
              </a:rPr>
              <a:t>totalTime</a:t>
            </a:r>
            <a:r>
              <a:rPr lang="en-US" altLang="zh-TW" sz="1200" dirty="0">
                <a:solidFill>
                  <a:srgbClr val="0000FF"/>
                </a:solidFill>
              </a:rPr>
              <a:t>, string </a:t>
            </a:r>
            <a:r>
              <a:rPr lang="en-US" altLang="zh-TW" sz="1200" dirty="0" err="1">
                <a:solidFill>
                  <a:srgbClr val="0000FF"/>
                </a:solidFill>
              </a:rPr>
              <a:t>filePath</a:t>
            </a:r>
            <a:r>
              <a:rPr lang="en-US" altLang="zh-TW" sz="1200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zh-TW" sz="1200" dirty="0"/>
              <a:t>{</a:t>
            </a:r>
          </a:p>
          <a:p>
            <a:r>
              <a:rPr lang="en-US" altLang="zh-TW" sz="1200" dirty="0"/>
              <a:t>  "command": "FINISHED",</a:t>
            </a:r>
          </a:p>
          <a:p>
            <a:r>
              <a:rPr lang="en-US" altLang="zh-TW" sz="1200" dirty="0"/>
              <a:t>  "</a:t>
            </a:r>
            <a:r>
              <a:rPr lang="en-US" altLang="zh-TW" sz="1200" dirty="0" err="1"/>
              <a:t>total_time_spent</a:t>
            </a:r>
            <a:r>
              <a:rPr lang="en-US" altLang="zh-TW" sz="1200" dirty="0"/>
              <a:t>": 25,</a:t>
            </a:r>
          </a:p>
          <a:p>
            <a:r>
              <a:rPr lang="en-US" altLang="zh-TW" sz="1200" dirty="0"/>
              <a:t>  "</a:t>
            </a:r>
            <a:r>
              <a:rPr lang="en-US" altLang="zh-TW" sz="1200" dirty="0" err="1"/>
              <a:t>storage_path</a:t>
            </a:r>
            <a:r>
              <a:rPr lang="en-US" altLang="zh-TW" sz="1200" dirty="0"/>
              <a:t>": "C:\\Results\\image001.png"</a:t>
            </a:r>
          </a:p>
          <a:p>
            <a:r>
              <a:rPr lang="en-US" altLang="zh-TW" sz="1200" dirty="0"/>
              <a:t>}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06892BE-C9D2-7622-E993-9B75ED1C8821}"/>
              </a:ext>
            </a:extLst>
          </p:cNvPr>
          <p:cNvSpPr txBox="1"/>
          <p:nvPr/>
        </p:nvSpPr>
        <p:spPr>
          <a:xfrm>
            <a:off x="7758549" y="1021291"/>
            <a:ext cx="2996259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200" dirty="0" err="1">
                <a:solidFill>
                  <a:srgbClr val="0000FF"/>
                </a:solidFill>
              </a:rPr>
              <a:t>SendError</a:t>
            </a:r>
            <a:r>
              <a:rPr lang="en-US" altLang="zh-TW" sz="1200" dirty="0">
                <a:solidFill>
                  <a:srgbClr val="0000FF"/>
                </a:solidFill>
              </a:rPr>
              <a:t>(string </a:t>
            </a:r>
            <a:r>
              <a:rPr lang="en-US" altLang="zh-TW" sz="1200" dirty="0" err="1">
                <a:solidFill>
                  <a:srgbClr val="0000FF"/>
                </a:solidFill>
              </a:rPr>
              <a:t>errorMessage</a:t>
            </a:r>
            <a:r>
              <a:rPr lang="en-US" altLang="zh-TW" sz="1200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zh-TW" sz="1200" dirty="0"/>
              <a:t>{</a:t>
            </a:r>
          </a:p>
          <a:p>
            <a:r>
              <a:rPr lang="en-US" altLang="zh-TW" sz="1200" dirty="0"/>
              <a:t>  "command": "ERROR",</a:t>
            </a:r>
          </a:p>
          <a:p>
            <a:r>
              <a:rPr lang="en-US" altLang="zh-TW" sz="1200" dirty="0"/>
              <a:t>  "</a:t>
            </a:r>
            <a:r>
              <a:rPr lang="en-US" altLang="zh-TW" sz="1200" dirty="0" err="1"/>
              <a:t>error_message</a:t>
            </a:r>
            <a:r>
              <a:rPr lang="en-US" altLang="zh-TW" sz="1200" dirty="0"/>
              <a:t>": "Camera disconnected"</a:t>
            </a:r>
          </a:p>
          <a:p>
            <a:r>
              <a:rPr lang="en-US" altLang="zh-TW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6589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1074</Words>
  <Application>Microsoft Office PowerPoint</Application>
  <PresentationFormat>寬螢幕</PresentationFormat>
  <Paragraphs>151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uLED</dc:creator>
  <cp:lastModifiedBy>uLED</cp:lastModifiedBy>
  <cp:revision>41</cp:revision>
  <dcterms:created xsi:type="dcterms:W3CDTF">2026-02-05T07:01:50Z</dcterms:created>
  <dcterms:modified xsi:type="dcterms:W3CDTF">2026-02-05T11:41:11Z</dcterms:modified>
</cp:coreProperties>
</file>